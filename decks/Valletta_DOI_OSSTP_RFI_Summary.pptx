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valletta-design-system/assets/logo/valletta-mark-gh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2" y="502920"/>
            <a:ext cx="5486400" cy="5839260"/>
          </a:xfrm>
          <a:prstGeom prst="rect">
            <a:avLst/>
          </a:prstGeom>
        </p:spPr>
      </p:pic>
      <p:pic>
        <p:nvPicPr>
          <p:cNvPr id="3" name="Image 1" descr="/home/user/valletta-design-system/assets/logo/valletta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548640" cy="58392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170432" y="34747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VALLETTA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1170432" y="731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1100" dirty="0"/>
          </a:p>
        </p:txBody>
      </p:sp>
      <p:sp>
        <p:nvSpPr>
          <p:cNvPr id="6" name="Shape 2"/>
          <p:cNvSpPr/>
          <p:nvPr/>
        </p:nvSpPr>
        <p:spPr>
          <a:xfrm>
            <a:off x="457200" y="1371600"/>
            <a:ext cx="502920" cy="457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7" name="Shape 3"/>
          <p:cNvSpPr/>
          <p:nvPr/>
        </p:nvSpPr>
        <p:spPr>
          <a:xfrm>
            <a:off x="457200" y="1371600"/>
            <a:ext cx="45720" cy="5029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148132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D8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TO REQUEST FOR INFORMATION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1828800"/>
            <a:ext cx="10607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OFFICER SAFETY AND SURVIVAL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PROGRAM (OSSTP)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290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OF THE INTERIOR  |  OFFICE OF LAW ENFORCEMENT AND SECURITY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8221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BY OPERATORS.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431596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law-enforcement and force-protection training experience, reinforced by current protective-force operations.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77240" y="5102352"/>
            <a:ext cx="10607040" cy="0"/>
          </a:xfrm>
          <a:prstGeom prst="line">
            <a:avLst/>
          </a:prstGeom>
          <a:noFill/>
          <a:ln w="12700">
            <a:solidFill>
              <a:srgbClr val="1C1D2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77240" y="5285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SUBMITTED BY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554126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 Blair, Chief Executive Officer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Valletta Industries, Inc.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N Columbia Street, Suite 9, Covington, LA 70433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(619) 873-5312  |  sam@vallettaindustries.com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7498080" y="52852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 RESPONSE DUE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7498080" y="5541264"/>
            <a:ext cx="4233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September 2026, 12:00 PM ET</a:t>
            </a:r>
            <a:endParaRPr lang="en-US" sz="10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UEI CKXMD3HBP1P7  |  CAGE 92SX6</a:t>
            </a:r>
            <a:endParaRPr lang="en-US" sz="10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SDVOSB  |  VOSB  |  HUBZone  |  Small Business</a:t>
            </a:r>
            <a:endParaRPr lang="en-US" sz="10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GSA MAS GS-00F-204GA  |  SeaPort-NxG Prime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valletta-design-system/assets/logo/valletta-mark-gh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2" y="502920"/>
            <a:ext cx="5486400" cy="5839260"/>
          </a:xfrm>
          <a:prstGeom prst="rect">
            <a:avLst/>
          </a:prstGeom>
        </p:spPr>
      </p:pic>
      <p:pic>
        <p:nvPicPr>
          <p:cNvPr id="3" name="Image 1" descr="/home/user/valletta-design-system/assets/logo/valletta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2743200" cy="57607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005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 RESPONSE — SECTIONS 1–3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132588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Right-Fit Acquisition Path &amp; a Repeatable Curriculum Lifecycle</a:t>
            </a:r>
            <a:endParaRPr lang="en-US" sz="2700" dirty="0"/>
          </a:p>
        </p:txBody>
      </p:sp>
      <p:sp>
        <p:nvSpPr>
          <p:cNvPr id="6" name="Shape 2"/>
          <p:cNvSpPr/>
          <p:nvPr/>
        </p:nvSpPr>
        <p:spPr>
          <a:xfrm>
            <a:off x="457200" y="2194560"/>
            <a:ext cx="3200400" cy="1280160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7" name="Shape 3"/>
          <p:cNvSpPr/>
          <p:nvPr/>
        </p:nvSpPr>
        <p:spPr>
          <a:xfrm>
            <a:off x="457200" y="2194560"/>
            <a:ext cx="274320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8" name="Shape 4"/>
          <p:cNvSpPr/>
          <p:nvPr/>
        </p:nvSpPr>
        <p:spPr>
          <a:xfrm>
            <a:off x="457200" y="2194560"/>
            <a:ext cx="29261" cy="2743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85800" y="2340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NAICS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5968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611430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072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&amp; Management Development Training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3794760" y="2194560"/>
            <a:ext cx="3200400" cy="1280160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3" name="Shape 9"/>
          <p:cNvSpPr/>
          <p:nvPr/>
        </p:nvSpPr>
        <p:spPr>
          <a:xfrm>
            <a:off x="3794760" y="2194560"/>
            <a:ext cx="274320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4" name="Shape 10"/>
          <p:cNvSpPr/>
          <p:nvPr/>
        </p:nvSpPr>
        <p:spPr>
          <a:xfrm>
            <a:off x="3794760" y="2194560"/>
            <a:ext cx="29261" cy="2743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023360" y="2340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PSC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4023360" y="25968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U008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4023360" y="3072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Education/Training — Training/Curriculum Development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178040" y="2194560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APPROACH FITS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178040" y="2505456"/>
            <a:ext cx="455371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draft SOW's emphasis on original curriculum, instructor/student materials, and DOI instructor certification — not guard services.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Valletta already holds GSA MAS SIN 611430 and 611430ST, providing an existing acquisition path.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36118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CURRICULUM-DEVELOPMENT LIFECYCLE  —  SECTION 3.1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57200" y="3931920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1792" y="4069080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21792" y="4069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640080" y="4462272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 Analysis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3310128" y="3931920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3474720" y="4069080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3474720" y="4069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3493008" y="4462272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&amp; Enabling Learning Objectives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6163056" y="3931920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6327648" y="4069080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327648" y="4069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6345936" y="4462272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 &amp; Scenario Design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9015984" y="3931920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9180576" y="4069080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9180576" y="4069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9198864" y="4462272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/ Validation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457200" y="5138928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21792" y="5276088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621792" y="5276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40" name="Text 36"/>
          <p:cNvSpPr txBox="1"/>
          <p:nvPr/>
        </p:nvSpPr>
        <p:spPr>
          <a:xfrm>
            <a:off x="640080" y="5669280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Approval</a:t>
            </a:r>
            <a:endParaRPr lang="en-US" sz="1050" dirty="0"/>
          </a:p>
        </p:txBody>
      </p:sp>
      <p:sp>
        <p:nvSpPr>
          <p:cNvPr id="41" name="Shape 37"/>
          <p:cNvSpPr/>
          <p:nvPr/>
        </p:nvSpPr>
        <p:spPr>
          <a:xfrm>
            <a:off x="3310128" y="5138928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3474720" y="5276088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3474720" y="5276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44" name="Text 40"/>
          <p:cNvSpPr txBox="1"/>
          <p:nvPr/>
        </p:nvSpPr>
        <p:spPr>
          <a:xfrm>
            <a:off x="3493008" y="5669280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Certification</a:t>
            </a:r>
            <a:endParaRPr lang="en-US" sz="1050" dirty="0"/>
          </a:p>
        </p:txBody>
      </p:sp>
      <p:sp>
        <p:nvSpPr>
          <p:cNvPr id="45" name="Shape 41"/>
          <p:cNvSpPr/>
          <p:nvPr/>
        </p:nvSpPr>
        <p:spPr>
          <a:xfrm>
            <a:off x="6163056" y="5138928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6327648" y="5276088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47" name="Text 43"/>
          <p:cNvSpPr txBox="1"/>
          <p:nvPr/>
        </p:nvSpPr>
        <p:spPr>
          <a:xfrm>
            <a:off x="6327648" y="5276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8" name="Text 44"/>
          <p:cNvSpPr txBox="1"/>
          <p:nvPr/>
        </p:nvSpPr>
        <p:spPr>
          <a:xfrm>
            <a:off x="6345936" y="5669280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Delivery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9015984" y="5138928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9180576" y="5276088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9180576" y="5276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52" name="Text 48"/>
          <p:cNvSpPr txBox="1"/>
          <p:nvPr/>
        </p:nvSpPr>
        <p:spPr>
          <a:xfrm>
            <a:off x="9198864" y="5669280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After-Action Review &amp; Continuous Improvement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 INDUSTRIES, INC.  |  DOI OSSTP RFI RESPONSE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valletta-design-system/assets/logo/valletta-mark-gh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2" y="502920"/>
            <a:ext cx="5486400" cy="5839260"/>
          </a:xfrm>
          <a:prstGeom prst="rect">
            <a:avLst/>
          </a:prstGeom>
        </p:spPr>
      </p:pic>
      <p:pic>
        <p:nvPicPr>
          <p:cNvPr id="3" name="Image 1" descr="/home/user/valletta-design-system/assets/logo/valletta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548640" cy="58392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170432" y="34747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VALLETTA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1170432" y="731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0058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SECTIONS 3.2 &amp; 6 — REPRESENTATIVE EXPERIENCE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13258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Federal Law-Enforcement &amp; Force-Protection Training Track Record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457200" y="2194560"/>
            <a:ext cx="274320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9" name="Shape 5"/>
          <p:cNvSpPr/>
          <p:nvPr/>
        </p:nvSpPr>
        <p:spPr>
          <a:xfrm>
            <a:off x="457200" y="2194560"/>
            <a:ext cx="29261" cy="2743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57200" y="2340864"/>
            <a:ext cx="26814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0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$3.4M+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2999232"/>
            <a:ext cx="25443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value across the relevant contracts shown below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321558" y="2194560"/>
            <a:ext cx="274320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3" name="Shape 9"/>
          <p:cNvSpPr/>
          <p:nvPr/>
        </p:nvSpPr>
        <p:spPr>
          <a:xfrm>
            <a:off x="3321558" y="2194560"/>
            <a:ext cx="29261" cy="2743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321558" y="2340864"/>
            <a:ext cx="26814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674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3321558" y="2999232"/>
            <a:ext cx="25443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trained — NAVSEA Norfolk &amp; Puget Sound, 2023–2026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185916" y="2194560"/>
            <a:ext cx="274320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7" name="Shape 13"/>
          <p:cNvSpPr/>
          <p:nvPr/>
        </p:nvSpPr>
        <p:spPr>
          <a:xfrm>
            <a:off x="6185916" y="2194560"/>
            <a:ext cx="29261" cy="2743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185916" y="2340864"/>
            <a:ext cx="26814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6185916" y="2999232"/>
            <a:ext cx="25443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customers: DIA, FBI, MSC, U.S. Navy, HHS, USDA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9050274" y="2194560"/>
            <a:ext cx="274320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1" name="Shape 17"/>
          <p:cNvSpPr/>
          <p:nvPr/>
        </p:nvSpPr>
        <p:spPr>
          <a:xfrm>
            <a:off x="9050274" y="2194560"/>
            <a:ext cx="29261" cy="2743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9050274" y="2340864"/>
            <a:ext cx="26814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CONUS /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OCONUS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9050274" y="2999232"/>
            <a:ext cx="25443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training-team delivery with instructor redundancy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4552" cy="269748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5605272"/>
              </a:tblGrid>
              <a:tr h="3853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002B"/>
                          </a:solidFill>
                        </a:rPr>
                        <a:t>CUSTOMER</a:t>
                      </a:r>
                      <a:endParaRPr lang="en-US" sz="10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002B"/>
                          </a:solidFill>
                        </a:rPr>
                        <a:t>PROGRAM</a:t>
                      </a:r>
                      <a:endParaRPr lang="en-US" sz="10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002B"/>
                          </a:solidFill>
                        </a:rPr>
                        <a:t>OSSTP RELEVANCE</a:t>
                      </a:r>
                      <a:endParaRPr lang="en-US" sz="10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Defense Intelligence Agency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Individual Protective Measures Training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Live-fire, protective measures, tactical/off-road driving, high-stress decision-making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Federal Bureau of Investigation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Fly Team Tactical Vehicle Operations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Tactical vehicle ops for Special Agents supporting high-risk counterterrorism missions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Military Sealift Command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Anti-Terrorism / Force Protection (multi-year)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High-volume CONUS/OCONUS AT/FP training; small-arms platforms M9/M4/M500/M18/M14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U.S. Navy NAVSEA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Tactical Scenario-Based Training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Scenario-based force protection at Norfolk &amp; Puget Sound; 674 personnel trained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U.S. Navy CENSECFOR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Waterborne Security Boat Instructor East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Classroom &amp; operational instruction, evaluation, remediation, live-fire events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HHS ASPR / SNSPS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Strategic National Stockpile Protective Services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Use of force, de-escalation, defensive tactics, weapons qualification, certification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valletta-design-system/assets/logo/valletta-mark-gh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2" y="502920"/>
            <a:ext cx="5486400" cy="5839260"/>
          </a:xfrm>
          <a:prstGeom prst="rect">
            <a:avLst/>
          </a:prstGeom>
        </p:spPr>
      </p:pic>
      <p:pic>
        <p:nvPicPr>
          <p:cNvPr id="3" name="Image 1" descr="/home/user/valletta-design-system/assets/logo/valletta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2743200" cy="57607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0058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7 — RECOMMENDATIONS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132588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Refinements That Deliver a Durable Training System — Not a One-Time Course</a:t>
            </a:r>
            <a:endParaRPr lang="en-US" sz="2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11274552" cy="4069080"/>
        </p:xfrm>
        <a:graphic>
          <a:graphicData uri="http://schemas.openxmlformats.org/drawingml/2006/table">
            <a:tbl>
              <a:tblPr/>
              <a:tblGrid>
                <a:gridCol w="4023360"/>
                <a:gridCol w="7251192"/>
              </a:tblGrid>
              <a:tr h="581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RECOMMENDED SOW REFINEMENT</a:t>
                      </a:r>
                      <a:endParaRPr lang="en-US" sz="1100" dirty="0"/>
                    </a:p>
                  </a:txBody>
                  <a:tcPr marL="127000" marR="127000" marT="63500" marB="63500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BENEFIT TO DOI</a:t>
                      </a:r>
                      <a:endParaRPr lang="en-US" sz="1100" dirty="0"/>
                    </a:p>
                  </a:txBody>
                  <a:tcPr marL="127000" marR="127000" marT="63500" marB="63500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</a:rPr>
                        <a:t>Define a formal curriculum-development lifecycle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A repeatable, auditable process from Training Needs Analysis through pilot/validation, Government approval, delivery, AAR, and revision.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</a:rPr>
                        <a:t>Define instructor qualification standards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Demonstrated law-enforcement, military, tactical, use-of-force, or firearms experience matched to each assigned module.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</a:rPr>
                        <a:t>Establish a formal DOI Train-the-Trainer certification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Prerequisites, teach-backs, practical evaluation, safety evaluation, knowledge assessment, and recertification.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</a:rPr>
                        <a:t>Standardize scenario design and evaluation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Learning objectives, decision points, safety controls, scoring rubrics, remediation triggers, and AAR elements.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</a:rPr>
                        <a:t>Protect Government ownership of new courseware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DOI owns/has right-to-use newly developed OSSTP material, while legitimate contractor background IP stays excluded.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</a:rPr>
                        <a:t>Require standards-based, portable digital courseware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SCORM / xAPI / AICC / IMS QTI interoperability so DOI can sustain content without vendor lock-in.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 INDUSTRIES, INC.  |  DOI OSSTP RFI RESPONSE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valletta-design-system/assets/logo/valletta-mark-gh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2" y="502920"/>
            <a:ext cx="5486400" cy="5839260"/>
          </a:xfrm>
          <a:prstGeom prst="rect">
            <a:avLst/>
          </a:prstGeom>
        </p:spPr>
      </p:pic>
      <p:pic>
        <p:nvPicPr>
          <p:cNvPr id="3" name="Image 1" descr="/home/user/valletta-design-system/assets/logo/valletta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548640" cy="58392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170432" y="34747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VALLETTA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1170432" y="731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005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132588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BY OPERATORS.</a:t>
            </a:r>
            <a:endParaRPr lang="en-US" sz="34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20116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proven partner to stand up DOI's own OSSTP.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788920"/>
            <a:ext cx="256032" cy="32004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0" name="Shape 6"/>
          <p:cNvSpPr/>
          <p:nvPr/>
        </p:nvSpPr>
        <p:spPr>
          <a:xfrm>
            <a:off x="457200" y="2788920"/>
            <a:ext cx="32004" cy="256032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68680" y="2752344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OPERATOR, NOT JUST AN INSTRUCTOR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3118104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protective-force operations reinforce every module Valletta designs and teaches.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57200" y="3840480"/>
            <a:ext cx="256032" cy="32004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4" name="Shape 10"/>
          <p:cNvSpPr/>
          <p:nvPr/>
        </p:nvSpPr>
        <p:spPr>
          <a:xfrm>
            <a:off x="457200" y="3840480"/>
            <a:ext cx="32004" cy="256032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68680" y="3803904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PROTECT: A DOI-OWNED DIGITAL PATHWAY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4169664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SCORM / xAPI / AICC / IMS QTI-ready courseware with learner-performance analytics — no vendor lock-in.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7200" y="4892040"/>
            <a:ext cx="256032" cy="32004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8" name="Shape 14"/>
          <p:cNvSpPr/>
          <p:nvPr/>
        </p:nvSpPr>
        <p:spPr>
          <a:xfrm>
            <a:off x="457200" y="4892040"/>
            <a:ext cx="32004" cy="256032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868680" y="4855464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NATIONWIDE, REDUNDANT DELIVERY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68680" y="5221224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training teams, instructor redundancy, and controlled courseware across CONUS/OCONUS sites.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720840" y="777240"/>
            <a:ext cx="5010912" cy="5166360"/>
          </a:xfrm>
          <a:prstGeom prst="rect">
            <a:avLst/>
          </a:prstGeom>
          <a:solidFill>
            <a:srgbClr val="1C1D21"/>
          </a:solidFill>
          <a:ln/>
        </p:spPr>
      </p:sp>
      <p:sp>
        <p:nvSpPr>
          <p:cNvPr id="22" name="Shape 18"/>
          <p:cNvSpPr/>
          <p:nvPr/>
        </p:nvSpPr>
        <p:spPr>
          <a:xfrm>
            <a:off x="6720840" y="777240"/>
            <a:ext cx="384048" cy="411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3" name="Shape 19"/>
          <p:cNvSpPr/>
          <p:nvPr/>
        </p:nvSpPr>
        <p:spPr>
          <a:xfrm>
            <a:off x="6720840" y="777240"/>
            <a:ext cx="41148" cy="3840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040880" y="1097280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POINT OF CONTACT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040880" y="1399032"/>
            <a:ext cx="4370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 Blair, Chief Executive Officer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(619) 873-5312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sam@vallettaindustries.com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7040880" y="2286000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 &amp; CONTRACT VEHICLES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040880" y="2578608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UEI: CKXMD3HBP1P7   |   CAGE: 92SX6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SBA-Certified SDVOSB  |  VOSB  |  SBA-Certified HUBZone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GSA MAS GS-00F-204GA  |  SeaPort-NxG Prime Contract Holder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N Columbia Street, Suite 9, Covington, LA 70433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7040880" y="4023360"/>
            <a:ext cx="4370832" cy="0"/>
          </a:xfrm>
          <a:prstGeom prst="line">
            <a:avLst/>
          </a:prstGeom>
          <a:noFill/>
          <a:ln w="12700">
            <a:solidFill>
              <a:srgbClr val="2A2B3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040880" y="4206240"/>
            <a:ext cx="43708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Valletta welcomes continued engagement with OLES and the Interior Business Center as this requirement is refined.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DOI OSSTP RFI Response — Executive Summary</dc:title>
  <dc:subject>PptxGenJS Presentation</dc:subject>
  <dc:creator>Valletta Industries, Inc.</dc:creator>
  <cp:lastModifiedBy>Valletta Industries, Inc.</cp:lastModifiedBy>
  <cp:revision>1</cp:revision>
  <dcterms:created xsi:type="dcterms:W3CDTF">2026-09-11T15:00:30Z</dcterms:created>
  <dcterms:modified xsi:type="dcterms:W3CDTF">2026-09-11T15:00:30Z</dcterms:modified>
</cp:coreProperties>
</file>