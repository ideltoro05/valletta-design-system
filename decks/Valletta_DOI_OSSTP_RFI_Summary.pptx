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25603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25603" cy="365760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45352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D8D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VALLETTA INDUSTRIES, INC.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8D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TO REQUEST FOR INFORMATION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112745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OFFICER SAFETY AND SURVIVAL</a:t>
            </a:r>
            <a:endParaRPr lang="en-US" sz="4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TRAINING PROGRAM (OSSTP)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5844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THE INTERIOR  |  OFFICE OF LAW ENFORCEMENT AND SECURITY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23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law-enforcement and force-protection training experience, reinforced by current protective-force operations.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53212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Blair, Chief Executive Officer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Valletta Industries, Inc.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N Columbia Street, Suite 9, Covington, LA 70433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(619) 873-5312  |  sam@vallettaindustries.com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5257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5B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RESPONSE DUE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55321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September 2026, 12:00 PM ET</a:t>
            </a:r>
            <a:endParaRPr lang="en-US" sz="11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UEI CKXMD3HBP1P7  |  CAGE 92SX6</a:t>
            </a:r>
            <a:endParaRPr lang="en-US" sz="11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SDVOSB  |  VOSB  |  HUBZone  |  Small Business</a:t>
            </a:r>
            <a:endParaRPr lang="en-US" sz="11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 MAS GS-00F-204GA  |  SeaPort-NxG Prime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RESPONSE — SECTIONS 1–3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Right-Fit Acquisition Path &amp; a Repeatable Curriculum Lifecycle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200400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91640"/>
            <a:ext cx="274320" cy="25603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25603" cy="274320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NAICS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305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611430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24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&amp; Management Development Training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94760" y="1691640"/>
            <a:ext cx="3200400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Shape 9"/>
          <p:cNvSpPr/>
          <p:nvPr/>
        </p:nvSpPr>
        <p:spPr>
          <a:xfrm>
            <a:off x="3794760" y="1691640"/>
            <a:ext cx="274320" cy="25603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12" name="Shape 10"/>
          <p:cNvSpPr/>
          <p:nvPr/>
        </p:nvSpPr>
        <p:spPr>
          <a:xfrm>
            <a:off x="3794760" y="1691640"/>
            <a:ext cx="25603" cy="274320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02336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PSC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1305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U008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624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Education/Training — Training/Curriculum Development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169164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APPROACH FITS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2011680"/>
            <a:ext cx="4553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draft SOW's emphasis on original curriculum, instructor/student materials, and DOI instructor certification — not guard services.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Valletta already holds GSA MAS SIN 611430 and 611430ST, providing an existing acquisition path.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31012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CURRICULUM-DEVELOPMENT LIFECYCLE  —  SECTION 3.1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75888"/>
            <a:ext cx="2715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9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822192"/>
            <a:ext cx="365760" cy="36576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242816"/>
            <a:ext cx="2350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Needs Analysis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0128" y="3675888"/>
            <a:ext cx="2715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9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3822192"/>
            <a:ext cx="365760" cy="36576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7472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493008" y="4242816"/>
            <a:ext cx="2350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&amp; Enabling Learning Objectives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63056" y="3675888"/>
            <a:ext cx="2715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9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3822192"/>
            <a:ext cx="365760" cy="36576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27648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345936" y="4242816"/>
            <a:ext cx="2350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&amp; Scenario Design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15984" y="3675888"/>
            <a:ext cx="2715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9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80576" y="3822192"/>
            <a:ext cx="365760" cy="36576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80576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198864" y="4242816"/>
            <a:ext cx="2350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/ Validation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001768"/>
            <a:ext cx="2715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9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" y="5148072"/>
            <a:ext cx="365760" cy="36576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1792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568696"/>
            <a:ext cx="2350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Approval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10128" y="5001768"/>
            <a:ext cx="2715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9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0" y="5148072"/>
            <a:ext cx="365760" cy="36576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474720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3493008" y="5568696"/>
            <a:ext cx="2350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Certification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63056" y="5001768"/>
            <a:ext cx="2715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9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5148072"/>
            <a:ext cx="365760" cy="36576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327648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345936" y="5568696"/>
            <a:ext cx="2350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Delivery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015984" y="5001768"/>
            <a:ext cx="2715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9D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80576" y="5148072"/>
            <a:ext cx="365760" cy="36576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180576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9198864" y="5568696"/>
            <a:ext cx="2350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After-Action Review &amp; Continuous Improvement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5B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VALLETTA INDUSTRIES, INC.  |  DOI OSSTP RFI RESPONSE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3.2 &amp; 6 — REPRESENTATIVE EXPERIENCE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Federal Law-Enforcement &amp; Force-Protection Training Track Record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74320" cy="25603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91640"/>
            <a:ext cx="25603" cy="274320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856232"/>
            <a:ext cx="26814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00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$3.4M+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value across the relevant contracts shown below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21558" y="1691640"/>
            <a:ext cx="274320" cy="25603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9" name="Shape 7"/>
          <p:cNvSpPr/>
          <p:nvPr/>
        </p:nvSpPr>
        <p:spPr>
          <a:xfrm>
            <a:off x="3321558" y="1691640"/>
            <a:ext cx="25603" cy="274320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21558" y="1856232"/>
            <a:ext cx="26814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674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321558" y="25603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trained — NAVSEA Norfolk &amp; Puget Sound, 2023–2026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5916" y="1691640"/>
            <a:ext cx="274320" cy="25603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13" name="Shape 11"/>
          <p:cNvSpPr/>
          <p:nvPr/>
        </p:nvSpPr>
        <p:spPr>
          <a:xfrm>
            <a:off x="6185916" y="1691640"/>
            <a:ext cx="25603" cy="274320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85916" y="1856232"/>
            <a:ext cx="26814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185916" y="25603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customers: DIA, FBI, MSC, U.S. Navy, HHS, USDA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50274" y="1691640"/>
            <a:ext cx="274320" cy="25603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17" name="Shape 15"/>
          <p:cNvSpPr/>
          <p:nvPr/>
        </p:nvSpPr>
        <p:spPr>
          <a:xfrm>
            <a:off x="9050274" y="1691640"/>
            <a:ext cx="25603" cy="274320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50274" y="1856232"/>
            <a:ext cx="26814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CONUS /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OCONUS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050274" y="25603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training-team delivery with instructor redundancy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11274552" cy="269748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605272"/>
              </a:tblGrid>
              <a:tr h="385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002B"/>
                          </a:solidFill>
                        </a:rPr>
                        <a:t>CUSTOMER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002B"/>
                          </a:solidFill>
                        </a:rPr>
                        <a:t>PROGRAM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002B"/>
                          </a:solidFill>
                        </a:rPr>
                        <a:t>OSSTP RELEVANCE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21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Defense Intelligence Agency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8D9DB"/>
                          </a:solidFill>
                        </a:rPr>
                        <a:t>Individual Protective Measures Training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8D9DB"/>
                          </a:solidFill>
                        </a:rPr>
                        <a:t>Live-fire, protective measures, tactical/off-road driving, high-stress decision-making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Federal Bureau of Investigation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8D9DB"/>
                          </a:solidFill>
                        </a:rPr>
                        <a:t>Fly Team Tactical Vehicle Operations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8D9DB"/>
                          </a:solidFill>
                        </a:rPr>
                        <a:t>Tactical vehicle ops for Special Agents supporting high-risk counterterrorism missions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21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Military Sealift Command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8D9DB"/>
                          </a:solidFill>
                        </a:rPr>
                        <a:t>Anti-Terrorism / Force Protection (multi-year)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8D9DB"/>
                          </a:solidFill>
                        </a:rPr>
                        <a:t>High-volume CONUS/OCONUS AT/FP training; small-arms platforms M9/M4/M500/M18/M14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U.S. Navy NAVSEA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8D9DB"/>
                          </a:solidFill>
                        </a:rPr>
                        <a:t>Tactical Scenario-Based Training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8D9DB"/>
                          </a:solidFill>
                        </a:rPr>
                        <a:t>Scenario-based force protection at Norfolk &amp; Puget Sound; 674 personnel trained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21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U.S. Navy CENSECFOR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8D9DB"/>
                          </a:solidFill>
                        </a:rPr>
                        <a:t>Waterborne Security Boat Instructor East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8D9DB"/>
                          </a:solidFill>
                        </a:rPr>
                        <a:t>Classroom &amp; operational instruction, evaluation, remediation, live-fire events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HHS ASPR / SNSPS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8D9DB"/>
                          </a:solidFill>
                        </a:rPr>
                        <a:t>Strategic National Stockpile Protective Services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8D9DB"/>
                          </a:solidFill>
                        </a:rPr>
                        <a:t>Use of force, de-escalation, defensive tactics, weapons qualification, certification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2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 — RECOMMENDATIONS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Refinements That Deliver a Durable Training System — Not a One-Time Course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4617720"/>
        </p:xfrm>
        <a:graphic>
          <a:graphicData uri="http://schemas.openxmlformats.org/drawingml/2006/table">
            <a:tbl>
              <a:tblPr/>
              <a:tblGrid>
                <a:gridCol w="4023360"/>
                <a:gridCol w="7251192"/>
              </a:tblGrid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RECOMMENDED SOW REFINEMENT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BENEFIT TO DOI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</a:rPr>
                        <a:t>Define a formal curriculum-development lifecycle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66"/>
                          </a:solidFill>
                        </a:rPr>
                        <a:t>A repeatable, auditable process from Training Needs Analysis through pilot/validation, Government approval, delivery, AAR, and revision.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</a:rPr>
                        <a:t>Define instructor qualification standards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66"/>
                          </a:solidFill>
                        </a:rPr>
                        <a:t>Demonstrated law-enforcement, military, tactical, use-of-force, or firearms experience matched to each assigned module.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</a:rPr>
                        <a:t>Establish a formal DOI Train-the-Trainer certification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66"/>
                          </a:solidFill>
                        </a:rPr>
                        <a:t>Prerequisites, teach-backs, practical evaluation, safety evaluation, knowledge assessment, and recertification.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</a:rPr>
                        <a:t>Standardize scenario design and evaluation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66"/>
                          </a:solidFill>
                        </a:rPr>
                        <a:t>Learning objectives, decision points, safety controls, scoring rubrics, remediation triggers, and AAR elements.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</a:rPr>
                        <a:t>Protect Government ownership of new courseware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66"/>
                          </a:solidFill>
                        </a:rPr>
                        <a:t>DOI owns/has right-to-use newly developed OSSTP material, while legitimate contractor background IP stays excluded.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</a:rPr>
                        <a:t>Require standards-based, portable digital courseware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66"/>
                          </a:solidFill>
                        </a:rPr>
                        <a:t>SCORM / xAPI / AICC / IMS QTI interoperability so DOI can sustain content without vendor lock-in.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5B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VALLETTA INDUSTRIES, INC.  |  DOI OSSTP RFI RESPONSE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Proven Partner to Stand Up DOI's Own OSSTP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37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OPERATOR, NOT JUST AN INSTRUCTOR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6712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protective-force operations reinforce every module Valletta designs and teaches.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63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PROTECT: A DOI-OWNED DIGITAL PATHWAY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49300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SCORM / xAPI / AICC / IMS QTI-ready courseware with learner-performance analytics — no vendor lock-in.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457200" cy="45720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389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NATIONWIDE, REDUNDANT DELIVERY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81888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training teams, instructor redundancy, and controlled courseware across CONUS/OCONUS sites.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783080"/>
            <a:ext cx="5010912" cy="4160520"/>
          </a:xfrm>
          <a:prstGeom prst="rect">
            <a:avLst/>
          </a:prstGeom>
          <a:solidFill>
            <a:srgbClr val="1C1D21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0840" y="1783080"/>
            <a:ext cx="292608" cy="25603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0840" y="1783080"/>
            <a:ext cx="25603" cy="292608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95160" y="203911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POINT OF CONTACT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2331720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Blair, Chief Executive Officer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(619) 873-5312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sam@vallettaindustries.com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20040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&amp; CONTRACT VEHICLES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493008"/>
            <a:ext cx="4462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UEI: CKXMD3HBP1P7   |   CAGE: 92SX6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SBA-Certified SDVOSB  |  VOSB  |  SBA-Certified HUBZone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 MAS GS-00F-204GA  |  SeaPort-NxG Prime Contract Holder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N Columbia Street, Suite 9, Covington, LA 70433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846320"/>
            <a:ext cx="4462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Valletta welcomes continued engagement with OLES and the Interior Business Center as this requirement is refined.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DOI OSSTP RFI Response — Executive Summary</dc:title>
  <dc:subject>PptxGenJS Presentation</dc:subject>
  <dc:creator>Valletta Industries, Inc.</dc:creator>
  <cp:lastModifiedBy>Valletta Industries, Inc.</cp:lastModifiedBy>
  <cp:revision>1</cp:revision>
  <dcterms:created xsi:type="dcterms:W3CDTF">2026-09-11T12:20:26Z</dcterms:created>
  <dcterms:modified xsi:type="dcterms:W3CDTF">2026-09-11T12:20:26Z</dcterms:modified>
</cp:coreProperties>
</file>