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0" dirty="0"/>
          </a:p>
        </p:txBody>
      </p:sp>
      <p:pic>
        <p:nvPicPr>
          <p:cNvPr id="3" name="Image 0" descr="/home/user/valletta-design-system/assets/logo/vallett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365760" cy="3892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29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594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502920" cy="457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371600"/>
            <a:ext cx="45720" cy="5029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" y="14813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D8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TO REQUEST FOR INFORMATION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82880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OFFICER SAFETY AND SURVIVAL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PROGRAM (OSSTP)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4290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THE INTERIOR  |  OFFICE OF LAW ENFORCEMENT AND SECURITY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8221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OPERATORS.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15968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law-enforcement and force-protection training experience, reinforced by current protective-force operations.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5102352"/>
            <a:ext cx="106070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5285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 BY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54126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Blair, Chief Executive Officer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Industries, Inc.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  |  sam@vallettaindustries.com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498080" y="52852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RESPONSE DUE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5541264"/>
            <a:ext cx="4233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September 2026, 12:00 PM ET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 CKXMD3HBP1P7  |  CAGE 92SX6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SDVOSB  |  VOSB  |  HUBZone  |  Small Business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GSA MAS GS-00F-204GA  |  SeaPort-NxG Prime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EBEB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0" dirty="0"/>
          </a:p>
        </p:txBody>
      </p:sp>
      <p:pic>
        <p:nvPicPr>
          <p:cNvPr id="3" name="Image 0" descr="/home/user/valletta-design-system/assets/logo/valletta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1828800" cy="3840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 RESPONSE — SECTIONS 1–3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9728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Right-Fit Acquisition Path &amp; a Repeatable Curriculum Lifecycle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3200400" cy="128016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8" name="Shape 5"/>
          <p:cNvSpPr/>
          <p:nvPr/>
        </p:nvSpPr>
        <p:spPr>
          <a:xfrm>
            <a:off x="457200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800" y="21122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NAICS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3682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611430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8437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&amp; Management Development Training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94760" y="1965960"/>
            <a:ext cx="3200400" cy="128016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3" name="Shape 10"/>
          <p:cNvSpPr/>
          <p:nvPr/>
        </p:nvSpPr>
        <p:spPr>
          <a:xfrm>
            <a:off x="3794760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4" name="Shape 11"/>
          <p:cNvSpPr/>
          <p:nvPr/>
        </p:nvSpPr>
        <p:spPr>
          <a:xfrm>
            <a:off x="3794760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023360" y="21122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PSC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23682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U008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28437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Education/Training — Training/Curriculum Development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7178040" y="1965960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APPROACH FITS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178040" y="2276856"/>
            <a:ext cx="455371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draft SOW's emphasis on original curriculum, instructor/student materials, and DOI instructor certification — not guard services.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already holds GSA MAS SIN 611430 and 611430ST, providing an existing acquisition path.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3832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CURRICULUM-DEVELOPMENT LIFECYCLE  —  SECTION 3.1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37033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1792" y="38404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21792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42336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Analysis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310128" y="37033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74720" y="38404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47472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3493008" y="42336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&amp; Enabling Learning Objectives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163056" y="37033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27648" y="38404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327648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345936" y="42336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&amp; Scenario Design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9015984" y="3703320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180576" y="3840480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9180576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198864" y="4233672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/ Validation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49103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21792" y="50474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21792" y="5047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40080" y="54406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Approval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3310128" y="49103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74720" y="50474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3474720" y="5047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3493008" y="54406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Certification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6163056" y="49103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27648" y="50474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327648" y="5047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345936" y="54406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Delivery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9015984" y="4910328"/>
            <a:ext cx="271576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180576" y="5047488"/>
            <a:ext cx="347472" cy="347472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9180576" y="5047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9198864" y="5440680"/>
            <a:ext cx="2350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After-Action Review &amp; Continuous Improvement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RFI RESPONSE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0" dirty="0"/>
          </a:p>
        </p:txBody>
      </p:sp>
      <p:pic>
        <p:nvPicPr>
          <p:cNvPr id="3" name="Image 0" descr="/home/user/valletta-design-system/assets/logo/vallett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365760" cy="3892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29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594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SECTIONS 3.2 &amp; 6 — REPRESENTATIVE EXPERIENCE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972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Law-Enforcement &amp; Force-Protection Training Track Record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457200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9" name="Shape 6"/>
          <p:cNvSpPr/>
          <p:nvPr/>
        </p:nvSpPr>
        <p:spPr>
          <a:xfrm>
            <a:off x="457200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21122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0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$3.4M+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7706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value across the relevant contracts shown below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21558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3" name="Shape 10"/>
          <p:cNvSpPr/>
          <p:nvPr/>
        </p:nvSpPr>
        <p:spPr>
          <a:xfrm>
            <a:off x="3321558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321558" y="21122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674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3321558" y="27706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trained — NAVSEA Norfolk &amp; Puget Sound, 2023–2026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185916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7" name="Shape 14"/>
          <p:cNvSpPr/>
          <p:nvPr/>
        </p:nvSpPr>
        <p:spPr>
          <a:xfrm>
            <a:off x="6185916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85916" y="21122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6185916" y="27706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customers: DIA, FBI, MSC, U.S. Navy, HHS, USDA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9050274" y="1965960"/>
            <a:ext cx="274320" cy="29261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1" name="Shape 18"/>
          <p:cNvSpPr/>
          <p:nvPr/>
        </p:nvSpPr>
        <p:spPr>
          <a:xfrm>
            <a:off x="9050274" y="1965960"/>
            <a:ext cx="29261" cy="2743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050274" y="2112264"/>
            <a:ext cx="26814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CONUS /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OCONUS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9050274" y="2770632"/>
            <a:ext cx="25443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training-team delivery with instructor redundancy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11274552" cy="292608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5605272"/>
              </a:tblGrid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002B"/>
                          </a:solidFill>
                        </a:rPr>
                        <a:t>CUSTOMER</a:t>
                      </a:r>
                      <a:endParaRPr lang="en-US" sz="10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002B"/>
                          </a:solidFill>
                        </a:rPr>
                        <a:t>PROGRAM</a:t>
                      </a:r>
                      <a:endParaRPr lang="en-US" sz="10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002B"/>
                          </a:solidFill>
                        </a:rPr>
                        <a:t>OSSTP RELEVANCE</a:t>
                      </a:r>
                      <a:endParaRPr lang="en-US" sz="10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Defense Intelligence Agency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Individual Protective Measures Training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Live-fire, protective measures, tactical/off-road driving, high-stress decision-making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Federal Bureau of Investigation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Fly Team Tactical Vehicle Operations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Tactical vehicle ops for Special Agents supporting high-risk counterterrorism missions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Military Sealift Command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Anti-Terrorism / Force Protection (multi-year)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High-volume CONUS/OCONUS AT/FP training; small-arms platforms M9/M4/M500/M18/M14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U.S. Navy NAVSEA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Tactical Scenario-Based Training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Scenario-based force protection at Norfolk &amp; Puget Sound; 674 personnel trained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U.S. Navy CENSECFOR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Waterborne Security Boat Instructor East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Classroom &amp; operational instruction, evaluation, remediation, live-fire events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HHS ASPR / SNSPS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Strategic National Stockpile Protective Services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8D9DB"/>
                          </a:solidFill>
                        </a:rPr>
                        <a:t>Use of force, de-escalation, defensive tactics, weapons qualification, certification</a:t>
                      </a:r>
                      <a:endParaRPr lang="en-US" sz="10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D2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D2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EBEB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6000" dirty="0"/>
          </a:p>
        </p:txBody>
      </p:sp>
      <p:pic>
        <p:nvPicPr>
          <p:cNvPr id="3" name="Image 0" descr="/home/user/valletta-design-system/assets/logo/valletta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1828800" cy="3840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7 — RECOMMENDATIONS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9728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Refinements That Deliver a Durable Training System — Not a One-Time Course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11274552" cy="4343400"/>
        </p:xfrm>
        <a:graphic>
          <a:graphicData uri="http://schemas.openxmlformats.org/drawingml/2006/table">
            <a:tbl>
              <a:tblPr/>
              <a:tblGrid>
                <a:gridCol w="4023360"/>
                <a:gridCol w="7251192"/>
              </a:tblGrid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RECOMMENDED SOW REFINEMENT</a:t>
                      </a:r>
                      <a:endParaRPr lang="en-US" sz="1100" dirty="0"/>
                    </a:p>
                  </a:txBody>
                  <a:tcPr marL="127000" marR="1270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BENEFIT TO DOI</a:t>
                      </a:r>
                      <a:endParaRPr lang="en-US" sz="1100" dirty="0"/>
                    </a:p>
                  </a:txBody>
                  <a:tcPr marL="127000" marR="1270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Define a formal curriculum-development lifecycle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A repeatable, auditable process from Training Needs Analysis through pilot/validation, Government approval, delivery, AAR, and revision.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Define instructor qualification standards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Demonstrated law-enforcement, military, tactical, use-of-force, or firearms experience matched to each assigned module.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Establish a formal DOI Train-the-Trainer certification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Prerequisites, teach-backs, practical evaluation, safety evaluation, knowledge assessment, and recertification.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Standardize scenario design and evaluation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Learning objectives, decision points, safety controls, scoring rubrics, remediation triggers, and AAR elements.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Protect Government ownership of new courseware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DOI owns/has right-to-use newly developed OSSTP material, while legitimate contractor background IP stays excluded.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4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</a:rPr>
                        <a:t>Require standards-based, portable digital courseware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SCORM / xAPI / AICC / IMS QTI interoperability so DOI can sustain content without vendor lock-in.</a:t>
                      </a:r>
                      <a:endParaRPr lang="en-US" sz="1050" dirty="0"/>
                    </a:p>
                  </a:txBody>
                  <a:tcPr marL="127000" marR="1270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RFI RESPONSE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6000" dirty="0"/>
          </a:p>
        </p:txBody>
      </p:sp>
      <p:pic>
        <p:nvPicPr>
          <p:cNvPr id="3" name="Image 0" descr="/home/user/valletta-design-system/assets/logo/vallett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365760" cy="3892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29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594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777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972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OPERATORS.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proven partner to stand up DOI's own OSSTP.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2606040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2606040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256946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OPERATOR, NOT JUST AN INSTRUCTOR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35224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protective-force operations reinforce every module Valletta designs and teaches.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3685032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4" name="Shape 11"/>
          <p:cNvSpPr/>
          <p:nvPr/>
        </p:nvSpPr>
        <p:spPr>
          <a:xfrm>
            <a:off x="457200" y="3685032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68680" y="3648456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PROTECT: A DOI-OWNED DIGITAL PATHWAY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014216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SCORM / xAPI / AICC / IMS QTI-ready courseware with learner-performance analytics — no vendor lock-in.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764024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8" name="Shape 15"/>
          <p:cNvSpPr/>
          <p:nvPr/>
        </p:nvSpPr>
        <p:spPr>
          <a:xfrm>
            <a:off x="457200" y="4764024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8680" y="472744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NATIONWIDE, REDUNDANT DELIVERY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093208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training teams, instructor redundancy, and controlled courseware across CONUS/OCONUS sites.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720840" y="777240"/>
            <a:ext cx="5010912" cy="516636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22" name="Shape 19"/>
          <p:cNvSpPr/>
          <p:nvPr/>
        </p:nvSpPr>
        <p:spPr>
          <a:xfrm>
            <a:off x="6720840" y="777240"/>
            <a:ext cx="384048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840" y="777240"/>
            <a:ext cx="41148" cy="3840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040880" y="109728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POINT OF CONTACT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1399032"/>
            <a:ext cx="4370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Blair, Chief Executive Officer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sam@vallettaindustries.com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228600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&amp; CONTRACT VEHICLES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2578608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UEI: CKXMD3HBP1P7   |   CAGE: 92SX6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SBA-Certified SDVOSB  |  VOSB  |  SBA-Certified HUBZone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GSA MAS GS-00F-204GA  |  SeaPort-NxG Prime Contract Holder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040880" y="4023360"/>
            <a:ext cx="4370832" cy="0"/>
          </a:xfrm>
          <a:prstGeom prst="line">
            <a:avLst/>
          </a:prstGeom>
          <a:noFill/>
          <a:ln w="12700">
            <a:solidFill>
              <a:srgbClr val="2A2B3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040880" y="4206240"/>
            <a:ext cx="4370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welcomes continued engagement with OLES and the Interior Business Center as this requirement is refined.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DOI OSSTP RFI Response — Executive Summary</dc:title>
  <dc:subject>PptxGenJS Presentation</dc:subject>
  <dc:creator>Valletta Industries, Inc.</dc:creator>
  <cp:lastModifiedBy>Valletta Industries, Inc.</cp:lastModifiedBy>
  <cp:revision>1</cp:revision>
  <dcterms:created xsi:type="dcterms:W3CDTF">2026-09-11T14:21:48Z</dcterms:created>
  <dcterms:modified xsi:type="dcterms:W3CDTF">2026-09-11T14:21:48Z</dcterms:modified>
</cp:coreProperties>
</file>