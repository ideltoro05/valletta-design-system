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000" dirty="0"/>
          </a:p>
        </p:txBody>
      </p:sp>
      <p:pic>
        <p:nvPicPr>
          <p:cNvPr id="3" name="Image 0" descr="/home/user/valletta-design-system/assets/logo/vallett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365760" cy="3892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291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VALLETTA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5943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457200" y="1371600"/>
            <a:ext cx="502920" cy="457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371600"/>
            <a:ext cx="45720" cy="50292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" y="148132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D8D9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&amp; SOLUTION OVERVIEW  —  CLIENT BRIEFING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82880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OFFICER SAFETY AND SURVIVAL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PROGRAM (OSSTP)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4290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 THE INTERIOR  |  OFFICE OF LAW ENFORCEMENT AND SECURITY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8221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OPERATORS.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15968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law-enforcement and force-protection training experience, reinforced by current protective-force operations — featuring Mission Protect, our DOI-owned digital training pathway.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5102352"/>
            <a:ext cx="10607040" cy="0"/>
          </a:xfrm>
          <a:prstGeom prst="line">
            <a:avLst/>
          </a:prstGeom>
          <a:noFill/>
          <a:ln w="12700">
            <a:solidFill>
              <a:srgbClr val="1C1D2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5285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5541264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Industries, Inc.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N Columbia Street, Suite 9, Covington, LA 70433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(619) 873-5312  |  sam@vallettaindustries.com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498080" y="52852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498080" y="5541264"/>
            <a:ext cx="4233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 Office of Law Enforcement &amp; Security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Business Center</a:t>
            </a:r>
            <a:endParaRPr lang="en-US" sz="10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UEI CKXMD3HBP1P7  |  CAGE 92SX6  |  SDVOSB  |  HUBZone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EAEAE8"/>
          </a:solidFill>
          <a:ln/>
        </p:spPr>
      </p:sp>
      <p:sp>
        <p:nvSpPr>
          <p:cNvPr id="3" name="Shape 1"/>
          <p:cNvSpPr/>
          <p:nvPr/>
        </p:nvSpPr>
        <p:spPr>
          <a:xfrm>
            <a:off x="1577340" y="2651760"/>
            <a:ext cx="274320" cy="274320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4" name="Shape 2"/>
          <p:cNvSpPr/>
          <p:nvPr/>
        </p:nvSpPr>
        <p:spPr>
          <a:xfrm>
            <a:off x="1668780" y="2971800"/>
            <a:ext cx="1005840" cy="685800"/>
          </a:xfrm>
          <a:prstGeom prst="triangle">
            <a:avLst/>
          </a:prstGeom>
          <a:solidFill>
            <a:srgbClr val="5B5F66"/>
          </a:solidFill>
          <a:ln/>
        </p:spPr>
      </p:sp>
      <p:sp>
        <p:nvSpPr>
          <p:cNvPr id="5" name="Shape 3"/>
          <p:cNvSpPr/>
          <p:nvPr/>
        </p:nvSpPr>
        <p:spPr>
          <a:xfrm>
            <a:off x="2217420" y="2788920"/>
            <a:ext cx="868680" cy="868680"/>
          </a:xfrm>
          <a:prstGeom prst="triangle">
            <a:avLst/>
          </a:prstGeom>
          <a:solidFill>
            <a:srgbClr val="5B5F6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2880" y="361188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IMAGE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390448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Operator/instructor in a training environment — provided by Valletta</a:t>
            </a:r>
            <a:endParaRPr lang="en-US" sz="1000" dirty="0"/>
          </a:p>
        </p:txBody>
      </p:sp>
      <p:pic>
        <p:nvPicPr>
          <p:cNvPr id="8" name="Image 0" descr="/home/user/valletta-design-system/assets/logo/valletta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1828800" cy="384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EBEB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000" dirty="0"/>
          </a:p>
        </p:txBody>
      </p:sp>
      <p:sp>
        <p:nvSpPr>
          <p:cNvPr id="10" name="Text 7"/>
          <p:cNvSpPr txBox="1"/>
          <p:nvPr/>
        </p:nvSpPr>
        <p:spPr>
          <a:xfrm>
            <a:off x="507492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074920" y="10972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4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Federal Law-Enforcement Training, Built by Current Operators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5074920" y="2148840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Industries combines federal law-enforcement and force-protection training experience with current protective-force operations — a contractor that understands both how officers must be trained and how training standards, policy, and performance expectations operate in real-world security environments.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341985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0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806440" y="340156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 SERVICES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806440" y="367588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&amp; program management, data analytics, professional security staffing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074920" y="4096512"/>
            <a:ext cx="6675120" cy="0"/>
          </a:xfrm>
          <a:prstGeom prst="line">
            <a:avLst/>
          </a:prstGeom>
          <a:noFill/>
          <a:ln w="12700">
            <a:solidFill>
              <a:srgbClr val="D8D9D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74920" y="42062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0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5806440" y="41879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SCENARIO-BASED TRAINING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806440" y="4462272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Tactical training, AT/FP, defensive &amp; tactical driving, role-player/OPFOR integration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74920" y="4882896"/>
            <a:ext cx="6675120" cy="0"/>
          </a:xfrm>
          <a:prstGeom prst="line">
            <a:avLst/>
          </a:prstGeom>
          <a:noFill/>
          <a:ln w="12700">
            <a:solidFill>
              <a:srgbClr val="D8D9D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49926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0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5806440" y="497433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PERFORMANCE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806440" y="524865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Warfighter performance, resilience, and medical staffing support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074920" y="5870448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SDVOSB  |  VOSB  |  SBA-Certified HUBZone  |  CMMC Level 1  |  GSA MAS GS-00F-204GA  |  SeaPort-NxG Prime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9217152" y="6492240"/>
            <a:ext cx="2514600" cy="274320"/>
          </a:xfrm>
          <a:prstGeom prst="roundRect">
            <a:avLst>
              <a:gd name="adj" fmla="val 16667"/>
            </a:avLst>
          </a:prstGeom>
          <a:ln w="12700">
            <a:solidFill>
              <a:srgbClr val="FF002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17152" y="6492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</a:t>
            </a:r>
            <a:pPr algn="ctr" indent="0" marL="0">
              <a:buNone/>
            </a:pPr>
            <a:r>
              <a:rPr lang="en-US" sz="800" spc="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featured on p.5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5074920" y="6492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— CAPABILITY OVERVIEW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EBEB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000" dirty="0"/>
          </a:p>
        </p:txBody>
      </p:sp>
      <p:pic>
        <p:nvPicPr>
          <p:cNvPr id="3" name="Image 0" descr="/home/user/valletta-design-system/assets/logo/valletta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1828800" cy="3840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WORK STATEMENT ALIGNMENT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972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Full-Lifecycle Alignment With the Draft PWS Scope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7040880" cy="4251960"/>
        </p:xfrm>
        <a:graphic>
          <a:graphicData uri="http://schemas.openxmlformats.org/drawingml/2006/table">
            <a:tbl>
              <a:tblPr/>
              <a:tblGrid>
                <a:gridCol w="3246120"/>
                <a:gridCol w="3794760"/>
              </a:tblGrid>
              <a:tr h="7086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DRAFT PWS REQUIREMENT</a:t>
                      </a:r>
                      <a:endParaRPr lang="en-US" sz="105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VALLETTA CAPABILITY / APPROACH</a:t>
                      </a:r>
                      <a:endParaRPr lang="en-US" sz="105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Curriculum package — lesson plans, instructor guides, student manuals, scenario scripts, assessment tools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8-step curriculum-development lifecycle; all deliverables DOI-owned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Multi-module curriculum, 40–44 training hours (threat recognition, UOF, de-escalation, survival tactics, high-risk stops, stress/resiliency, scenario-based)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Instructor cadre from SOF, law-enforcement &amp; military backgrounds; scenarios built with scoring rubrics &amp; AAR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Four course iterations, Sept 2026–Aug 2027; DOI trainer certified for future sessions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Formal Train-the-Trainer model; nationwide mobile training-team delivery with instructor redundancy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Program documentation, SOPs, safety protocols, final annual report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Reporting framework: pre/post results, pass rates, remediation trends, AAR-driven revisions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8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A0A0A"/>
                          </a:solidFill>
                        </a:rPr>
                        <a:t>Contractor requirements — certified instructors, insurance, DOI security compliance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5F66"/>
                          </a:solidFill>
                        </a:rPr>
                        <a:t>CMMC Level 1; active federal training programs for DIA, FBI, U.S. Navy, HHS, USDA</a:t>
                      </a:r>
                      <a:endParaRPr lang="en-US" sz="1050" dirty="0"/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726680" y="1920240"/>
            <a:ext cx="4005072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9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726680" y="1920240"/>
            <a:ext cx="365760" cy="36576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9" name="Shape 5"/>
          <p:cNvSpPr/>
          <p:nvPr/>
        </p:nvSpPr>
        <p:spPr>
          <a:xfrm>
            <a:off x="7726680" y="1920240"/>
            <a:ext cx="36576" cy="365760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0" name="Shape 6"/>
          <p:cNvSpPr/>
          <p:nvPr/>
        </p:nvSpPr>
        <p:spPr>
          <a:xfrm>
            <a:off x="7726680" y="1920240"/>
            <a:ext cx="4005072" cy="384048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863840" y="1920240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DRAFT PWS §4.1 — CURRICULUM DEVELOPMENT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7955280" y="2468880"/>
            <a:ext cx="3547872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5B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contractor will create a multi-module curriculum covering:”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highlight>
                  <a:srgbClr val="FFD9DE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Threat recognition and response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force decision-making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De-escalation strategies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highlight>
                  <a:srgbClr val="FFD9DE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Officer survival tactics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stops and field operations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performance, resiliency, and mental readiness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0A0A0A"/>
                </a:solidFill>
                <a:highlight>
                  <a:srgbClr val="FFD9DE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Scenario-based training exercises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7955280" y="5605272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FF0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 modules map directly to Mission Protect’s scenario library — see p.5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9217152" y="6492240"/>
            <a:ext cx="2514600" cy="274320"/>
          </a:xfrm>
          <a:prstGeom prst="roundRect">
            <a:avLst>
              <a:gd name="adj" fmla="val 16667"/>
            </a:avLst>
          </a:prstGeom>
          <a:ln w="12700">
            <a:solidFill>
              <a:srgbClr val="FF002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217152" y="6492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</a:t>
            </a:r>
            <a:pPr algn="ctr" indent="0" marL="0">
              <a:buNone/>
            </a:pPr>
            <a:r>
              <a:rPr lang="en-US" sz="800" spc="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featured on p.5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6492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— CAPABILITY OVERVIEW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6000" dirty="0"/>
          </a:p>
        </p:txBody>
      </p:sp>
      <p:pic>
        <p:nvPicPr>
          <p:cNvPr id="3" name="Image 0" descr="/home/user/valletta-design-system/assets/logo/vallett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365760" cy="3892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291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VALLETTA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5943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DELIVERY CAPABILITY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9728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Small-Arms, Law-Enforcement &amp; Survivability Training at Allied Ranges Nationwide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9568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LIVE-FIRE / SMALL-ARMS RANGE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4937760" cy="306324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" y="2286000"/>
            <a:ext cx="490118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2286000"/>
            <a:ext cx="41148" cy="49011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2" name="Shape 9"/>
          <p:cNvSpPr/>
          <p:nvPr/>
        </p:nvSpPr>
        <p:spPr>
          <a:xfrm>
            <a:off x="2148840" y="3040380"/>
            <a:ext cx="274320" cy="274320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13" name="Shape 10"/>
          <p:cNvSpPr/>
          <p:nvPr/>
        </p:nvSpPr>
        <p:spPr>
          <a:xfrm>
            <a:off x="2240280" y="3360420"/>
            <a:ext cx="1005840" cy="68580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14" name="Shape 11"/>
          <p:cNvSpPr/>
          <p:nvPr/>
        </p:nvSpPr>
        <p:spPr>
          <a:xfrm>
            <a:off x="2788920" y="3177540"/>
            <a:ext cx="868680" cy="86868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0080" y="40005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IMAGE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29310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Live-fire / small-arms range training — provided by Valletta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559552" y="1956816"/>
            <a:ext cx="3003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TACTICAL &amp; SCENARIO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59552" y="2286000"/>
            <a:ext cx="3003804" cy="306324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19" name="Shape 16"/>
          <p:cNvSpPr/>
          <p:nvPr/>
        </p:nvSpPr>
        <p:spPr>
          <a:xfrm>
            <a:off x="5559552" y="2286000"/>
            <a:ext cx="480609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0" name="Shape 17"/>
          <p:cNvSpPr/>
          <p:nvPr/>
        </p:nvSpPr>
        <p:spPr>
          <a:xfrm>
            <a:off x="5559552" y="2286000"/>
            <a:ext cx="41148" cy="480609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1" name="Shape 18"/>
          <p:cNvSpPr/>
          <p:nvPr/>
        </p:nvSpPr>
        <p:spPr>
          <a:xfrm>
            <a:off x="6284214" y="3040380"/>
            <a:ext cx="274320" cy="274320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22" name="Shape 19"/>
          <p:cNvSpPr/>
          <p:nvPr/>
        </p:nvSpPr>
        <p:spPr>
          <a:xfrm>
            <a:off x="6375654" y="3360420"/>
            <a:ext cx="1005840" cy="68580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23" name="Shape 20"/>
          <p:cNvSpPr/>
          <p:nvPr/>
        </p:nvSpPr>
        <p:spPr>
          <a:xfrm>
            <a:off x="6924294" y="3177540"/>
            <a:ext cx="868680" cy="86868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742432" y="4000500"/>
            <a:ext cx="2638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IMAGE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5833872" y="4293108"/>
            <a:ext cx="24551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Law-enforcement tactical &amp; scenario training — provided by Valletta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727948" y="1956816"/>
            <a:ext cx="3003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SURVIVABILITY / DEFENSIVE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727948" y="2286000"/>
            <a:ext cx="3003804" cy="306324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28" name="Shape 25"/>
          <p:cNvSpPr/>
          <p:nvPr/>
        </p:nvSpPr>
        <p:spPr>
          <a:xfrm>
            <a:off x="8727948" y="2286000"/>
            <a:ext cx="480609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9" name="Shape 26"/>
          <p:cNvSpPr/>
          <p:nvPr/>
        </p:nvSpPr>
        <p:spPr>
          <a:xfrm>
            <a:off x="8727948" y="2286000"/>
            <a:ext cx="41148" cy="480609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30" name="Shape 27"/>
          <p:cNvSpPr/>
          <p:nvPr/>
        </p:nvSpPr>
        <p:spPr>
          <a:xfrm>
            <a:off x="9452610" y="3040380"/>
            <a:ext cx="274320" cy="274320"/>
          </a:xfrm>
          <a:prstGeom prst="ellipse">
            <a:avLst/>
          </a:prstGeom>
          <a:solidFill>
            <a:srgbClr val="FF002B"/>
          </a:solidFill>
          <a:ln/>
        </p:spPr>
      </p:sp>
      <p:sp>
        <p:nvSpPr>
          <p:cNvPr id="31" name="Shape 28"/>
          <p:cNvSpPr/>
          <p:nvPr/>
        </p:nvSpPr>
        <p:spPr>
          <a:xfrm>
            <a:off x="9544050" y="3360420"/>
            <a:ext cx="1005840" cy="68580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32" name="Shape 29"/>
          <p:cNvSpPr/>
          <p:nvPr/>
        </p:nvSpPr>
        <p:spPr>
          <a:xfrm>
            <a:off x="10092690" y="3177540"/>
            <a:ext cx="868680" cy="868680"/>
          </a:xfrm>
          <a:prstGeom prst="triangle">
            <a:avLst/>
          </a:prstGeom>
          <a:solidFill>
            <a:srgbClr val="D8D9DB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910828" y="4000500"/>
            <a:ext cx="2638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IMAGE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9002268" y="4293108"/>
            <a:ext cx="24551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Survivability &amp; defensive-tactics training — provided by Valletta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5532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at allied ranges CONUS/OCONUS  —  small-arms platforms M9 / M4 / M500 / M18 / M14  —  DIA, FBI, Military Sealift Command, and U.S. Navy training programs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9217152" y="6492240"/>
            <a:ext cx="2514600" cy="274320"/>
          </a:xfrm>
          <a:prstGeom prst="roundRect">
            <a:avLst>
              <a:gd name="adj" fmla="val 16667"/>
            </a:avLst>
          </a:prstGeom>
          <a:ln w="12700">
            <a:solidFill>
              <a:srgbClr val="FF002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217152" y="64922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</a:t>
            </a:r>
            <a:pPr algn="ctr" indent="0" marL="0">
              <a:buNone/>
            </a:pPr>
            <a:r>
              <a:rPr lang="en-US" sz="800" spc="5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featured on p.5</a:t>
            </a:r>
            <a:endParaRPr lang="en-US" sz="8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6492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— CAPABILITY OVERVIEW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6000" dirty="0"/>
          </a:p>
        </p:txBody>
      </p:sp>
      <p:pic>
        <p:nvPicPr>
          <p:cNvPr id="3" name="Image 0" descr="/home/user/valletta-design-system/assets/logo/vallett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365760" cy="3892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291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VALLETTA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5943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CAPABILITY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97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PROTECT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828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DOI-OWNED DIGITAL TRAINING PATHWAY</a:t>
            </a:r>
            <a:endParaRPr lang="en-US" sz="1300" dirty="0"/>
          </a:p>
        </p:txBody>
      </p:sp>
      <p:pic>
        <p:nvPicPr>
          <p:cNvPr id="9" name="Image 1" descr="/home/user/valletta-design-system/assets/mission-protect/mp-course-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1234440"/>
            <a:ext cx="2862072" cy="493033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pic>
      <p:sp>
        <p:nvSpPr>
          <p:cNvPr id="10" name="Shape 6"/>
          <p:cNvSpPr/>
          <p:nvPr/>
        </p:nvSpPr>
        <p:spPr>
          <a:xfrm>
            <a:off x="7909560" y="1234440"/>
            <a:ext cx="2862072" cy="4930330"/>
          </a:xfrm>
          <a:prstGeom prst="rect">
            <a:avLst/>
          </a:prstGeom>
          <a:ln w="12700">
            <a:solidFill>
              <a:srgbClr val="1C1D2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12280" y="941832"/>
            <a:ext cx="3959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PRODUCT UI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720840" y="4747450"/>
            <a:ext cx="1417320" cy="1417320"/>
          </a:xfrm>
          <a:prstGeom prst="ellipse">
            <a:avLst/>
          </a:prstGeom>
          <a:solidFill>
            <a:srgbClr val="FF002B"/>
          </a:solidFill>
          <a:ln w="50800">
            <a:solidFill>
              <a:srgbClr val="0A0A0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720840" y="474745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23317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modular, AI-enabled curriculum transformation and performance-measurement capability that converts approved source material into interactive, role-relevant training — while supporting adaptive learning, remediation, and learner-performance analytics.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STANDARDS-BASED INTEROPERABILITY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432511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SCORM, xAPI, AICC, and IMS QTI — portable across compatible learning environments.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57200" y="4782312"/>
            <a:ext cx="5120640" cy="0"/>
          </a:xfrm>
          <a:prstGeom prst="line">
            <a:avLst/>
          </a:prstGeom>
          <a:noFill/>
          <a:ln w="12700">
            <a:solidFill>
              <a:srgbClr val="1C1D2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7200" y="48737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REMEDIATION &amp; ANALYTICS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512978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Learner-performance data at the objective and scenario level, feeding targeted refresher content.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457200" y="5586984"/>
            <a:ext cx="5120640" cy="0"/>
          </a:xfrm>
          <a:prstGeom prst="line">
            <a:avLst/>
          </a:prstGeom>
          <a:noFill/>
          <a:ln w="12700">
            <a:solidFill>
              <a:srgbClr val="1C1D2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57200" y="56784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DOI-OWNED, NO VENDOR LOCK-IN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457200" y="593445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Government-owned courseware OLES can sustain independent of a single contractor-hosted platform.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457200" y="6492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VALLETTA INDUSTRIES, INC.  |  DOI OSSTP — CAPABILITY OVERVIEW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949440" y="0"/>
            <a:ext cx="54864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6000" dirty="0"/>
          </a:p>
        </p:txBody>
      </p:sp>
      <p:pic>
        <p:nvPicPr>
          <p:cNvPr id="3" name="Image 0" descr="/home/user/valletta-design-system/assets/logo/vallett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365760" cy="3892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291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VALLETTA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5943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5B5F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INDUSTRIES, INC.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777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97280"/>
            <a:ext cx="6675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BY OPERATORS.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7830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proven partner to stand up DOI's own OSSTP.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2606040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" y="2606040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8680" y="2569464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OPERATOR, NOT JUST AN INSTRUCTOR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35224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protective-force operations reinforce every module Valletta designs and teaches.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3685032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4" name="Shape 11"/>
          <p:cNvSpPr/>
          <p:nvPr/>
        </p:nvSpPr>
        <p:spPr>
          <a:xfrm>
            <a:off x="457200" y="3685032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68680" y="3648456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PROTECT: A DOI-OWNED DIGITAL PATHWAY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4014216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SCORM / xAPI / AICC / IMS QTI-ready courseware with learner-performance analytics — no vendor lock-in.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764024"/>
            <a:ext cx="256032" cy="32004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8" name="Shape 15"/>
          <p:cNvSpPr/>
          <p:nvPr/>
        </p:nvSpPr>
        <p:spPr>
          <a:xfrm>
            <a:off x="457200" y="4764024"/>
            <a:ext cx="32004" cy="256032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8680" y="4727448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NATIONWIDE, REDUNDANT DELIVERY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5093208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training teams, instructor redundancy, and controlled courseware across CONUS/OCONUS sites.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720840" y="777240"/>
            <a:ext cx="5010912" cy="5166360"/>
          </a:xfrm>
          <a:prstGeom prst="rect">
            <a:avLst/>
          </a:prstGeom>
          <a:solidFill>
            <a:srgbClr val="1C1D21"/>
          </a:solidFill>
          <a:ln/>
        </p:spPr>
      </p:sp>
      <p:sp>
        <p:nvSpPr>
          <p:cNvPr id="22" name="Shape 19"/>
          <p:cNvSpPr/>
          <p:nvPr/>
        </p:nvSpPr>
        <p:spPr>
          <a:xfrm>
            <a:off x="6720840" y="777240"/>
            <a:ext cx="384048" cy="411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0840" y="777240"/>
            <a:ext cx="41148" cy="384048"/>
          </a:xfrm>
          <a:prstGeom prst="rect">
            <a:avLst/>
          </a:prstGeom>
          <a:solidFill>
            <a:srgbClr val="FF002B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040880" y="109728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POINT OF CONTACT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1399032"/>
            <a:ext cx="4370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 Blair, Chief Executive Officer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(619) 873-5312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sam@vallettaindustries.com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040880" y="2286000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0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 &amp; CONTRACT VEHICLES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2578608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UEI: CKXMD3HBP1P7   |   CAGE: 92SX6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SBA-Certified SDVOSB  |  VOSB  |  SBA-Certified HUBZone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GSA MAS GS-00F-204GA  |  SeaPort-NxG Prime Contract Holder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N Columbia Street, Suite 9, Covington, LA 70433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040880" y="4023360"/>
            <a:ext cx="4370832" cy="0"/>
          </a:xfrm>
          <a:prstGeom prst="line">
            <a:avLst/>
          </a:prstGeom>
          <a:noFill/>
          <a:ln w="12700">
            <a:solidFill>
              <a:srgbClr val="2A2B3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040880" y="4206240"/>
            <a:ext cx="43708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D8D9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Valletta welcomes continued engagement with OLES and the Interior Business Center as this requirement is refined.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DOI OSSTP — Capability &amp; Solution Overview</dc:title>
  <dc:subject>PptxGenJS Presentation</dc:subject>
  <dc:creator>Valletta Industries, Inc.</dc:creator>
  <cp:lastModifiedBy>Valletta Industries, Inc.</cp:lastModifiedBy>
  <cp:revision>1</cp:revision>
  <dcterms:created xsi:type="dcterms:W3CDTF">2026-09-11T14:22:53Z</dcterms:created>
  <dcterms:modified xsi:type="dcterms:W3CDTF">2026-09-11T14:22:53Z</dcterms:modified>
</cp:coreProperties>
</file>