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25603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5603" cy="365760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45352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D8D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VALLETTA INDUSTRIES, INC.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8D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&amp; SOLUTION OVERVIEW  —  CLIENT BRIEFING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112745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OFFICER SAFETY AND SURVIVAL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TRAINING PROGRAM (OSSTP)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290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THE INTERIOR  |  OFFICE OF LAW ENFORCEMENT AND SECURITY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404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law-enforcement and force-protection training experience, reinforced by current protective-force operations — featuring Mission Protect, our DOI-owned digital training pathway.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53212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Valletta Industries, Inc.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N Columbia Street, Suite 9, Covington, LA 70433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(619) 873-5312  |  sam@vallettaindustries.com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5257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5B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55321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Office of Law Enforcement &amp; Security</a:t>
            </a:r>
            <a:endParaRPr lang="en-US" sz="11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Business Center</a:t>
            </a:r>
            <a:endParaRPr lang="en-US" sz="11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UEI CKXMD3HBP1P7  |  CAGE 92SX6</a:t>
            </a:r>
            <a:endParaRPr lang="en-US" sz="11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SDVOSB  |  VOSB  |  HUBZone  |  GSA MAS  |  SeaPort-NxG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Federal Law-Enforcement Training, Built by Current Operators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Valletta Industries combines federal law-enforcement and force-protection training experience with current protective-force operations — a contractor that understands both how officers must be trained and how training standards, policy, and performance expectations operate in real-world security environments.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6492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9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697480"/>
            <a:ext cx="73152" cy="896112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82549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SERVICES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1810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program management, data analytics, professional security staffing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6492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9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703320"/>
            <a:ext cx="73152" cy="896112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831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SCENARIO-BASED TRAINING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12394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training, AT/FP, defensive &amp; tactical driving, role-player/OPFOR integration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709160"/>
            <a:ext cx="6492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9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709160"/>
            <a:ext cx="73152" cy="896112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8371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PERFORMANCE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12978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Warfighter performance, resilience, and medical staffing support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74243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B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SDVOSB  |  VOSB  |  SBA-Certified HUBZone  |  CMMC Level 1  |  GSA MAS GS-00F-204GA  |  SeaPort-NxG Prime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1600200"/>
            <a:ext cx="4507992" cy="4507992"/>
          </a:xfrm>
          <a:prstGeom prst="rect">
            <a:avLst/>
          </a:prstGeom>
          <a:solidFill>
            <a:srgbClr val="EAEAE8"/>
          </a:solidFill>
          <a:ln w="12700">
            <a:solidFill>
              <a:srgbClr val="FF002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700516" y="3076956"/>
            <a:ext cx="274320" cy="27432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20" name="Shape 18"/>
          <p:cNvSpPr/>
          <p:nvPr/>
        </p:nvSpPr>
        <p:spPr>
          <a:xfrm>
            <a:off x="8791956" y="3396996"/>
            <a:ext cx="1005840" cy="685800"/>
          </a:xfrm>
          <a:prstGeom prst="triangle">
            <a:avLst/>
          </a:prstGeom>
          <a:solidFill>
            <a:srgbClr val="5B5F66"/>
          </a:solidFill>
          <a:ln/>
        </p:spPr>
      </p:sp>
      <p:sp>
        <p:nvSpPr>
          <p:cNvPr id="21" name="Shape 19"/>
          <p:cNvSpPr/>
          <p:nvPr/>
        </p:nvSpPr>
        <p:spPr>
          <a:xfrm>
            <a:off x="9340596" y="3214116"/>
            <a:ext cx="868680" cy="868680"/>
          </a:xfrm>
          <a:prstGeom prst="triangle">
            <a:avLst/>
          </a:prstGeom>
          <a:solidFill>
            <a:srgbClr val="5B5F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06640" y="4037076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IMAGE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4329684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Operator/instructor in a training environment — provided by Valletta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17152" y="6473952"/>
            <a:ext cx="2514600" cy="274320"/>
          </a:xfrm>
          <a:prstGeom prst="roundRect">
            <a:avLst>
              <a:gd name="adj" fmla="val 16667"/>
            </a:avLst>
          </a:prstGeom>
          <a:ln w="12700">
            <a:solidFill>
              <a:srgbClr val="FF00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17152" y="64739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PROTECT</a:t>
            </a:r>
            <a:pPr algn="ctr" indent="0" marL="0">
              <a:buNone/>
            </a:pPr>
            <a:r>
              <a:rPr lang="en-US" sz="800" spc="50" kern="0" dirty="0">
                <a:solidFill>
                  <a:srgbClr val="5B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featured on p.5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B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VALLETTA INDUSTRIES, INC.  |  DOI OSSTP — CAPABILITY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WORK STATEMENT ALIGNMENT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A0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Full-Lifecycle Alignment With the Draft PWS Scope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7040880" cy="4572000"/>
        </p:xfrm>
        <a:graphic>
          <a:graphicData uri="http://schemas.openxmlformats.org/drawingml/2006/table">
            <a:tbl>
              <a:tblPr/>
              <a:tblGrid>
                <a:gridCol w="3246120"/>
                <a:gridCol w="3794760"/>
              </a:tblGrid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DRAFT PWS REQUIREMENT</a:t>
                      </a:r>
                      <a:endParaRPr lang="en-US" sz="105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VALLETTA CAPABILITY / APPROACH</a:t>
                      </a:r>
                      <a:endParaRPr lang="en-US" sz="105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</a:rPr>
                        <a:t>Curriculum package — lesson plans, instructor guides, student manuals, scenario scripts, assessment tools</a:t>
                      </a:r>
                      <a:endParaRPr lang="en-US" sz="105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66"/>
                          </a:solidFill>
                        </a:rPr>
                        <a:t>8-step curriculum-development lifecycle; all deliverables DOI-owned</a:t>
                      </a:r>
                      <a:endParaRPr lang="en-US" sz="105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</a:rPr>
                        <a:t>Multi-module curriculum, 40–44 training hours (threat recognition, UOF, de-escalation, survival tactics, high-risk stops, stress/resiliency, scenario-based)</a:t>
                      </a:r>
                      <a:endParaRPr lang="en-US" sz="105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66"/>
                          </a:solidFill>
                        </a:rPr>
                        <a:t>Instructor cadre from SOF, law-enforcement &amp; military backgrounds; scenarios built with scoring rubrics &amp; AAR</a:t>
                      </a:r>
                      <a:endParaRPr lang="en-US" sz="105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</a:rPr>
                        <a:t>Four course iterations, Sept 2026–Aug 2027; DOI trainer certified for future sessions</a:t>
                      </a:r>
                      <a:endParaRPr lang="en-US" sz="105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66"/>
                          </a:solidFill>
                        </a:rPr>
                        <a:t>Formal Train-the-Trainer model; nationwide mobile training-team delivery with instructor redundancy</a:t>
                      </a:r>
                      <a:endParaRPr lang="en-US" sz="105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</a:rPr>
                        <a:t>Program documentation, SOPs, safety protocols, final annual report</a:t>
                      </a:r>
                      <a:endParaRPr lang="en-US" sz="105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66"/>
                          </a:solidFill>
                        </a:rPr>
                        <a:t>Reporting framework: pre/post results, pass rates, remediation trends, AAR-driven revisions</a:t>
                      </a:r>
                      <a:endParaRPr lang="en-US" sz="105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0A0A"/>
                          </a:solidFill>
                        </a:rPr>
                        <a:t>Contractor requirements — certified instructors, insurance, DOI security compliance</a:t>
                      </a:r>
                      <a:endParaRPr lang="en-US" sz="105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5F66"/>
                          </a:solidFill>
                        </a:rPr>
                        <a:t>CMMC Level 1; active federal training programs for DIA, FBI, U.S. Navy, HHS, USDA</a:t>
                      </a:r>
                      <a:endParaRPr lang="en-US" sz="105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00200"/>
            <a:ext cx="4005072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9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26680" y="1600200"/>
            <a:ext cx="4005072" cy="38404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63840" y="160020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DRAFT PWS §4.1 — CURRICULUM DEVELOPMENT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148840"/>
            <a:ext cx="354787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contractor will create a multi-module curriculum covering:”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0A0A"/>
                </a:solidFill>
                <a:highlight>
                  <a:srgbClr val="FFD9DE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Threat recognition and response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force decision-making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De-escalation strategies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0A0A"/>
                </a:solidFill>
                <a:highlight>
                  <a:srgbClr val="FFD9DE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Officer survival tactics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stops and field operations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performance, resiliency, and mental readiness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0A0A"/>
                </a:solidFill>
                <a:highlight>
                  <a:srgbClr val="FFD9DE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training exercises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5605272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FF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modules map directly to Mission Protect’s scenario library — see p.5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217152" y="6473952"/>
            <a:ext cx="2514600" cy="274320"/>
          </a:xfrm>
          <a:prstGeom prst="roundRect">
            <a:avLst>
              <a:gd name="adj" fmla="val 16667"/>
            </a:avLst>
          </a:prstGeom>
          <a:ln w="12700">
            <a:solidFill>
              <a:srgbClr val="FF00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217152" y="64739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PROTECT</a:t>
            </a:r>
            <a:pPr algn="ctr" indent="0" marL="0">
              <a:buNone/>
            </a:pPr>
            <a:r>
              <a:rPr lang="en-US" sz="800" spc="50" kern="0" dirty="0">
                <a:solidFill>
                  <a:srgbClr val="5B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featured on p.5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B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VALLETTA INDUSTRIES, INC.  |  DOI OSSTP — CAPABILITY OVERVIEW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DELIVERY CAPABILITY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Small-Arms, Law-Enforcement &amp; Survivability Training at Allied Ranges Nationwide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3602736" cy="2788920"/>
          </a:xfrm>
          <a:prstGeom prst="rect">
            <a:avLst/>
          </a:prstGeom>
          <a:solidFill>
            <a:srgbClr val="1C1D21"/>
          </a:solidFill>
          <a:ln w="12700">
            <a:solidFill>
              <a:srgbClr val="FF002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481328" y="2766060"/>
            <a:ext cx="274320" cy="27432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6" name="Shape 4"/>
          <p:cNvSpPr/>
          <p:nvPr/>
        </p:nvSpPr>
        <p:spPr>
          <a:xfrm>
            <a:off x="1572768" y="3086100"/>
            <a:ext cx="1005840" cy="685800"/>
          </a:xfrm>
          <a:prstGeom prst="triangle">
            <a:avLst/>
          </a:prstGeom>
          <a:solidFill>
            <a:srgbClr val="D8D9DB"/>
          </a:solidFill>
          <a:ln/>
        </p:spPr>
      </p:sp>
      <p:sp>
        <p:nvSpPr>
          <p:cNvPr id="7" name="Shape 5"/>
          <p:cNvSpPr/>
          <p:nvPr/>
        </p:nvSpPr>
        <p:spPr>
          <a:xfrm>
            <a:off x="2121408" y="2903220"/>
            <a:ext cx="868680" cy="868680"/>
          </a:xfrm>
          <a:prstGeom prst="triangle">
            <a:avLst/>
          </a:prstGeom>
          <a:solidFill>
            <a:srgbClr val="D8D9D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7261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IMAGE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01878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Live-fire / small-arms range training — provided by Valletta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42816" y="2148840"/>
            <a:ext cx="3602736" cy="2788920"/>
          </a:xfrm>
          <a:prstGeom prst="rect">
            <a:avLst/>
          </a:prstGeom>
          <a:solidFill>
            <a:srgbClr val="1C1D21"/>
          </a:solidFill>
          <a:ln w="12700">
            <a:solidFill>
              <a:srgbClr val="FF002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266944" y="2766060"/>
            <a:ext cx="274320" cy="27432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12" name="Shape 10"/>
          <p:cNvSpPr/>
          <p:nvPr/>
        </p:nvSpPr>
        <p:spPr>
          <a:xfrm>
            <a:off x="5358384" y="3086100"/>
            <a:ext cx="1005840" cy="685800"/>
          </a:xfrm>
          <a:prstGeom prst="triangle">
            <a:avLst/>
          </a:prstGeom>
          <a:solidFill>
            <a:srgbClr val="D8D9D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07024" y="2903220"/>
            <a:ext cx="868680" cy="868680"/>
          </a:xfrm>
          <a:prstGeom prst="triangle">
            <a:avLst/>
          </a:prstGeom>
          <a:solidFill>
            <a:srgbClr val="D8D9D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25696" y="37261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IMAGE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17136" y="401878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Law-enforcement tactical &amp; scenario training — provided by Valletta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28432" y="2148840"/>
            <a:ext cx="3602736" cy="2788920"/>
          </a:xfrm>
          <a:prstGeom prst="rect">
            <a:avLst/>
          </a:prstGeom>
          <a:solidFill>
            <a:srgbClr val="1C1D21"/>
          </a:solidFill>
          <a:ln w="12700">
            <a:solidFill>
              <a:srgbClr val="FF002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052560" y="2766060"/>
            <a:ext cx="274320" cy="27432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0" y="3086100"/>
            <a:ext cx="1005840" cy="685800"/>
          </a:xfrm>
          <a:prstGeom prst="triangle">
            <a:avLst/>
          </a:prstGeom>
          <a:solidFill>
            <a:srgbClr val="D8D9DB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2640" y="2903220"/>
            <a:ext cx="868680" cy="868680"/>
          </a:xfrm>
          <a:prstGeom prst="triangle">
            <a:avLst/>
          </a:prstGeom>
          <a:solidFill>
            <a:srgbClr val="D8D9D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11312" y="37261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IMAGE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401878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Survivability &amp; defensive-tactics training — provided by Valletta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1801368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LIVE-FIRE / SMALL-ARMS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242816" y="1801368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&amp; SCENARIO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028432" y="1801368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SURVIVABILITY / DEFENSIVE TACTICS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10235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at allied ranges CONUS/OCONUS  —  small-arms platforms M9 / M4 / M500 / M18 / M14  —  DIA, FBI, Military Sealift Command, and U.S. Navy training programs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217152" y="6473952"/>
            <a:ext cx="2514600" cy="274320"/>
          </a:xfrm>
          <a:prstGeom prst="roundRect">
            <a:avLst>
              <a:gd name="adj" fmla="val 16667"/>
            </a:avLst>
          </a:prstGeom>
          <a:ln w="12700">
            <a:solidFill>
              <a:srgbClr val="FF00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17152" y="64739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PROTECT</a:t>
            </a:r>
            <a:pPr algn="ctr" indent="0" marL="0">
              <a:buNone/>
            </a:pPr>
            <a:r>
              <a:rPr lang="en-US" sz="800" spc="50" kern="0" dirty="0">
                <a:solidFill>
                  <a:srgbClr val="5B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featured on p.5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B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VALLETTA INDUSTRIES, INC.  |  DOI OSSTP — CAPABILITY OVERVIEW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CAPABILITY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MISSION PROTECT — A DOI-Owned Digital Training Pathway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051560" cy="105156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MP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7830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AI-enabled curriculum transformation and performance-measurement capability that converts approved source material into interactive, role-relevant training — while supporting adaptive learning, remediation, and learner-performance analytics.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456432"/>
            <a:ext cx="274320" cy="27432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383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STANDARDS-BASED INTEROPERABILITY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850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designed for SCORM, xAPI, AICC, and IMS QTI — portable across compatible learning environments.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4489704"/>
            <a:ext cx="274320" cy="27432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416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REMEDIATION &amp; ANALYTICS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71830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Learner-performance data at the objective and scenario level, feeding targeted refresher content.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5522976"/>
            <a:ext cx="274320" cy="27432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44982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DOI-OWNED, NO VENDOR LOCK-IN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75157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Government-owned courseware that OLES can sustain independent of a single contractor-hosted platform.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1783080"/>
            <a:ext cx="5330952" cy="4434840"/>
          </a:xfrm>
          <a:prstGeom prst="rect">
            <a:avLst/>
          </a:prstGeom>
          <a:solidFill>
            <a:srgbClr val="1C1D21"/>
          </a:solidFill>
          <a:ln w="12700">
            <a:solidFill>
              <a:srgbClr val="FF002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289036" y="3223260"/>
            <a:ext cx="274320" cy="27432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18" name="Shape 16"/>
          <p:cNvSpPr/>
          <p:nvPr/>
        </p:nvSpPr>
        <p:spPr>
          <a:xfrm>
            <a:off x="8380476" y="3543300"/>
            <a:ext cx="1005840" cy="685800"/>
          </a:xfrm>
          <a:prstGeom prst="triangle">
            <a:avLst/>
          </a:prstGeom>
          <a:solidFill>
            <a:srgbClr val="D8D9DB"/>
          </a:solidFill>
          <a:ln/>
        </p:spPr>
      </p:sp>
      <p:sp>
        <p:nvSpPr>
          <p:cNvPr id="19" name="Shape 17"/>
          <p:cNvSpPr/>
          <p:nvPr/>
        </p:nvSpPr>
        <p:spPr>
          <a:xfrm>
            <a:off x="8929116" y="3360420"/>
            <a:ext cx="868680" cy="868680"/>
          </a:xfrm>
          <a:prstGeom prst="triangle">
            <a:avLst/>
          </a:prstGeom>
          <a:solidFill>
            <a:srgbClr val="D8D9D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418338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IMAGE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475988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Protect LMS / product screenshot — provided by Valletta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5B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VALLETTA INDUSTRIES, INC.  |  DOI OSSTP — CAPABILITY OVERVIEW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Proven Partner to Stand Up DOI's Own OSSTP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37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OPERATOR, NOT JUST AN INSTRUCTOR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671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protective-force operations reinforce every module Valletta designs and teaches.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063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PROTECT: A DOI-OWNED DIGITAL PATHWAY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4930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SCORM / xAPI / AICC / IMS QTI-ready courseware with learner-performance analytics — no vendor lock-in.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457200" cy="457200"/>
          </a:xfrm>
          <a:prstGeom prst="ellipse">
            <a:avLst/>
          </a:prstGeom>
          <a:solidFill>
            <a:srgbClr val="FF00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389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NATIONWIDE, REDUNDANT DELIVERY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8188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training teams, instructor redundancy, and controlled courseware across CONUS/OCONUS sites.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783080"/>
            <a:ext cx="5010912" cy="4160520"/>
          </a:xfrm>
          <a:prstGeom prst="rect">
            <a:avLst/>
          </a:prstGeom>
          <a:solidFill>
            <a:srgbClr val="1C1D21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0840" y="1783080"/>
            <a:ext cx="292608" cy="25603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0840" y="1783080"/>
            <a:ext cx="25603" cy="292608"/>
          </a:xfrm>
          <a:prstGeom prst="rect">
            <a:avLst/>
          </a:prstGeom>
          <a:solidFill>
            <a:srgbClr val="FF00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95160" y="203911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POINT OF CONTACT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2331720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Blair, Chief Executive Officer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(619) 873-5312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sam@vallettaindustries.com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20040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&amp; CONTRACT VEHICLES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493008"/>
            <a:ext cx="4462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UEI: CKXMD3HBP1P7   |   CAGE: 92SX6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SBA-Certified SDVOSB  |  VOSB  |  SBA-Certified HUBZone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 MAS GS-00F-204GA  |  SeaPort-NxG Prime Contract Holder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5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N Columbia Street, Suite 9, Covington, LA 70433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846320"/>
            <a:ext cx="4462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Valletta welcomes continued engagement with OLES and the Interior Business Center as this requirement is refined.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DOI OSSTP — Capability &amp; Solution Overview</dc:title>
  <dc:subject>PptxGenJS Presentation</dc:subject>
  <dc:creator>Valletta Industries, Inc.</dc:creator>
  <cp:lastModifiedBy>Valletta Industries, Inc.</cp:lastModifiedBy>
  <cp:revision>1</cp:revision>
  <dcterms:created xsi:type="dcterms:W3CDTF">2026-09-11T13:20:38Z</dcterms:created>
  <dcterms:modified xsi:type="dcterms:W3CDTF">2026-09-11T13:20:38Z</dcterms:modified>
</cp:coreProperties>
</file>